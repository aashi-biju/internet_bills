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38912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Unified Analytics Platform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Modern Data Estate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4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 •  Data Science  •  Real-Time Analytics  •  Business Intelligence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edureka! + Veranda Enterprise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801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Microsoft Fabric Used?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280160" y="2404872"/>
            <a:ext cx="9875520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420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5146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Microsoft Fabric?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80160" y="3118104"/>
            <a:ext cx="9875520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55264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2278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Microsoft Fabric Different from Others?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280160" y="3831336"/>
            <a:ext cx="9875520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684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94106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Fundamental Concepts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280160" y="4544568"/>
            <a:ext cx="9875520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681728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81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65429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Microsoft Fabric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280160" y="5257800"/>
            <a:ext cx="9875520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394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53675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|  Unified Analytics Platform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Microsoft Fabric Used?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simplifies and unifies data management and analytics.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40180" y="3246120"/>
            <a:ext cx="914400" cy="9144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9" name="Text 7"/>
          <p:cNvSpPr/>
          <p:nvPr/>
        </p:nvSpPr>
        <p:spPr>
          <a:xfrm>
            <a:off x="1440180" y="3246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77240" y="4389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474720" y="28803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74820" y="32461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274820" y="3246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11880" y="4389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09360" y="28803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09460" y="324612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7109460" y="3246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46520" y="4389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144000" y="28803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44100" y="3246120"/>
            <a:ext cx="914400" cy="914400"/>
          </a:xfrm>
          <a:prstGeom prst="ellipse">
            <a:avLst/>
          </a:prstGeom>
          <a:solidFill>
            <a:srgbClr val="3A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9944100" y="3246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281160" y="4389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|  Unified Analytics Platform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Microsoft Fabric?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is a unified analytics platform combining data processing, real-time analytics, and reporting with OneLake storage and AI for efficient insights.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4EFF3"/>
          </a:solidFill>
          <a:ln w="12700">
            <a:solidFill>
              <a:srgbClr val="D5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71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971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8FA"/>
          </a:solidFill>
          <a:ln w="12700">
            <a:solidFill>
              <a:srgbClr val="D5E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971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971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4EFF3"/>
          </a:solidFill>
          <a:ln w="12700">
            <a:solidFill>
              <a:srgbClr val="D5E4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971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Activator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2971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8FA"/>
          </a:solidFill>
          <a:ln w="12700">
            <a:solidFill>
              <a:srgbClr val="D5E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2971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Data Engineering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4EFF3"/>
          </a:solidFill>
          <a:ln w="12700">
            <a:solidFill>
              <a:srgbClr val="D5E4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9768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Data Science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83280" y="42976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8FA"/>
          </a:solidFill>
          <a:ln w="12700">
            <a:solidFill>
              <a:srgbClr val="D5E4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429768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Data Warehouse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2976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4EFF3"/>
          </a:solidFill>
          <a:ln w="12700">
            <a:solidFill>
              <a:srgbClr val="D5E4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429768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Real-Time Analytics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data, in one location — organize, collaborate, and create.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|  Unified Analytics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Microsoft Fabric Different from Others?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spanning four core functions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0B3D6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29000" y="20574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0574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429000" y="306324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6616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66160" y="4297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KQL Database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20574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3A7D9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0574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09360" y="306324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4652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89720" y="20574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2A541"/>
          </a:solidFill>
          <a:ln/>
        </p:spPr>
      </p:sp>
      <p:sp>
        <p:nvSpPr>
          <p:cNvPr id="23" name="Text 21"/>
          <p:cNvSpPr/>
          <p:nvPr/>
        </p:nvSpPr>
        <p:spPr>
          <a:xfrm>
            <a:off x="9281160" y="20574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189720" y="306324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|  Unified Analytics 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Foundation: OneLake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082B47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251460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2514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OneLake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E4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unified data lake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E4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entire organization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1920240"/>
            <a:ext cx="749808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9202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Copy — open Delta (Parquet) format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60520" y="2487168"/>
            <a:ext cx="7498080" cy="457200"/>
          </a:xfrm>
          <a:prstGeom prst="roundRect">
            <a:avLst>
              <a:gd name="adj" fmla="val 12000"/>
            </a:avLst>
          </a:prstGeom>
          <a:solidFill>
            <a:srgbClr val="0B3D62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24871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set of consistent user experiences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60520" y="3054096"/>
            <a:ext cx="749808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305409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access control &amp; security workspaces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60520" y="3621024"/>
            <a:ext cx="7498080" cy="457200"/>
          </a:xfrm>
          <a:prstGeom prst="roundRect">
            <a:avLst>
              <a:gd name="adj" fmla="val 12000"/>
            </a:avLst>
          </a:prstGeom>
          <a:solidFill>
            <a:srgbClr val="0B3D62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362102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governance model across all workloads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60520" y="4187952"/>
            <a:ext cx="749808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41879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monitoring hub for the entire estate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60520" y="4754880"/>
            <a:ext cx="7498080" cy="457200"/>
          </a:xfrm>
          <a:prstGeom prst="roundRect">
            <a:avLst>
              <a:gd name="adj" fmla="val 12000"/>
            </a:avLst>
          </a:prstGeom>
          <a:solidFill>
            <a:srgbClr val="0B3D62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47548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billing model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60520" y="5321808"/>
            <a:ext cx="749808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53218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premium capacity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|  Unified Analytics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 Fundamental Concepts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9164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267712"/>
            <a:ext cx="1572768" cy="1463040"/>
          </a:xfrm>
          <a:prstGeom prst="roundRect">
            <a:avLst>
              <a:gd name="adj" fmla="val 3750"/>
            </a:avLst>
          </a:prstGeom>
          <a:solidFill>
            <a:srgbClr val="F4F8FA"/>
          </a:solidFill>
          <a:ln w="9525">
            <a:solidFill>
              <a:srgbClr val="D5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2322576"/>
            <a:ext cx="1463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30552" y="1691640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0B3D62"/>
          </a:solidFill>
          <a:ln/>
        </p:spPr>
      </p:sp>
      <p:sp>
        <p:nvSpPr>
          <p:cNvPr id="10" name="Text 8"/>
          <p:cNvSpPr/>
          <p:nvPr/>
        </p:nvSpPr>
        <p:spPr>
          <a:xfrm>
            <a:off x="2176272" y="169164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30552" y="2267712"/>
            <a:ext cx="1572768" cy="1463040"/>
          </a:xfrm>
          <a:prstGeom prst="roundRect">
            <a:avLst>
              <a:gd name="adj" fmla="val 3750"/>
            </a:avLst>
          </a:prstGeom>
          <a:solidFill>
            <a:srgbClr val="F4F8FA"/>
          </a:solidFill>
          <a:ln w="9525">
            <a:solidFill>
              <a:srgbClr val="D5E4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85416" y="2322576"/>
            <a:ext cx="1463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Script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30552" y="3840480"/>
            <a:ext cx="1572768" cy="640080"/>
          </a:xfrm>
          <a:prstGeom prst="roundRect">
            <a:avLst>
              <a:gd name="adj" fmla="val 8571"/>
            </a:avLst>
          </a:prstGeom>
          <a:solidFill>
            <a:srgbClr val="E4EFF3"/>
          </a:solidFill>
          <a:ln w="9525">
            <a:solidFill>
              <a:srgbClr val="AFCB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38404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Engine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130552" y="46177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2176272" y="4617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03904" y="1691640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0B3D62"/>
          </a:solidFill>
          <a:ln/>
        </p:spPr>
      </p:sp>
      <p:sp>
        <p:nvSpPr>
          <p:cNvPr id="18" name="Text 16"/>
          <p:cNvSpPr/>
          <p:nvPr/>
        </p:nvSpPr>
        <p:spPr>
          <a:xfrm>
            <a:off x="3849624" y="169164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03904" y="2267712"/>
            <a:ext cx="1572768" cy="1463040"/>
          </a:xfrm>
          <a:prstGeom prst="roundRect">
            <a:avLst>
              <a:gd name="adj" fmla="val 3750"/>
            </a:avLst>
          </a:prstGeom>
          <a:solidFill>
            <a:srgbClr val="F4F8FA"/>
          </a:solidFill>
          <a:ln w="9525">
            <a:solidFill>
              <a:srgbClr val="D5E4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58768" y="2322576"/>
            <a:ext cx="1463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Job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03904" y="3840480"/>
            <a:ext cx="1572768" cy="640080"/>
          </a:xfrm>
          <a:prstGeom prst="roundRect">
            <a:avLst>
              <a:gd name="adj" fmla="val 8571"/>
            </a:avLst>
          </a:prstGeom>
          <a:solidFill>
            <a:srgbClr val="E4EFF3"/>
          </a:solidFill>
          <a:ln w="9525">
            <a:solidFill>
              <a:srgbClr val="AFCB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9624" y="38404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Engine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(Python, R, Scala)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803904" y="46177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/>
        </p:spPr>
      </p:sp>
      <p:sp>
        <p:nvSpPr>
          <p:cNvPr id="24" name="Text 22"/>
          <p:cNvSpPr/>
          <p:nvPr/>
        </p:nvSpPr>
        <p:spPr>
          <a:xfrm>
            <a:off x="3849624" y="4617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77256" y="1691640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0B3D62"/>
          </a:solidFill>
          <a:ln/>
        </p:spPr>
      </p:sp>
      <p:sp>
        <p:nvSpPr>
          <p:cNvPr id="26" name="Text 24"/>
          <p:cNvSpPr/>
          <p:nvPr/>
        </p:nvSpPr>
        <p:spPr>
          <a:xfrm>
            <a:off x="5522976" y="169164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77256" y="2267712"/>
            <a:ext cx="1572768" cy="1463040"/>
          </a:xfrm>
          <a:prstGeom prst="roundRect">
            <a:avLst>
              <a:gd name="adj" fmla="val 3750"/>
            </a:avLst>
          </a:prstGeom>
          <a:solidFill>
            <a:srgbClr val="F4F8FA"/>
          </a:solidFill>
          <a:ln w="9525">
            <a:solidFill>
              <a:srgbClr val="D5E4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2322576"/>
            <a:ext cx="1463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50608" y="1691640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0B3D62"/>
          </a:solidFill>
          <a:ln/>
        </p:spPr>
      </p:sp>
      <p:sp>
        <p:nvSpPr>
          <p:cNvPr id="30" name="Text 28"/>
          <p:cNvSpPr/>
          <p:nvPr/>
        </p:nvSpPr>
        <p:spPr>
          <a:xfrm>
            <a:off x="7196328" y="169164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50608" y="2267712"/>
            <a:ext cx="1572768" cy="1463040"/>
          </a:xfrm>
          <a:prstGeom prst="roundRect">
            <a:avLst>
              <a:gd name="adj" fmla="val 3750"/>
            </a:avLst>
          </a:prstGeom>
          <a:solidFill>
            <a:srgbClr val="F4F8FA"/>
          </a:solidFill>
          <a:ln w="9525">
            <a:solidFill>
              <a:srgbClr val="D5E4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05472" y="2322576"/>
            <a:ext cx="1463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KQL Database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Eventstream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KQL Queryset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50608" y="3840480"/>
            <a:ext cx="1572768" cy="640080"/>
          </a:xfrm>
          <a:prstGeom prst="roundRect">
            <a:avLst>
              <a:gd name="adj" fmla="val 8571"/>
            </a:avLst>
          </a:prstGeom>
          <a:solidFill>
            <a:srgbClr val="E4EFF3"/>
          </a:solidFill>
          <a:ln w="9525">
            <a:solidFill>
              <a:srgbClr val="AFCB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96328" y="38404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KQL Engine (KQL)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150608" y="46177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/>
        </p:spPr>
      </p:sp>
      <p:sp>
        <p:nvSpPr>
          <p:cNvPr id="36" name="Text 34"/>
          <p:cNvSpPr/>
          <p:nvPr/>
        </p:nvSpPr>
        <p:spPr>
          <a:xfrm>
            <a:off x="7196328" y="4617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823960" y="1691640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0B3D62"/>
          </a:solidFill>
          <a:ln/>
        </p:spPr>
      </p:sp>
      <p:sp>
        <p:nvSpPr>
          <p:cNvPr id="38" name="Text 36"/>
          <p:cNvSpPr/>
          <p:nvPr/>
        </p:nvSpPr>
        <p:spPr>
          <a:xfrm>
            <a:off x="8869680" y="169164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823960" y="2267712"/>
            <a:ext cx="1572768" cy="1463040"/>
          </a:xfrm>
          <a:prstGeom prst="roundRect">
            <a:avLst>
              <a:gd name="adj" fmla="val 3750"/>
            </a:avLst>
          </a:prstGeom>
          <a:solidFill>
            <a:srgbClr val="F4F8FA"/>
          </a:solidFill>
          <a:ln w="9525">
            <a:solidFill>
              <a:srgbClr val="D5E4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78824" y="2322576"/>
            <a:ext cx="1463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823960" y="3840480"/>
            <a:ext cx="1572768" cy="640080"/>
          </a:xfrm>
          <a:prstGeom prst="roundRect">
            <a:avLst>
              <a:gd name="adj" fmla="val 8571"/>
            </a:avLst>
          </a:prstGeom>
          <a:solidFill>
            <a:srgbClr val="E4EFF3"/>
          </a:solidFill>
          <a:ln w="9525">
            <a:solidFill>
              <a:srgbClr val="AFCB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69680" y="38404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Services Engine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823960" y="46177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/>
        </p:spPr>
      </p:sp>
      <p:sp>
        <p:nvSpPr>
          <p:cNvPr id="44" name="Text 42"/>
          <p:cNvSpPr/>
          <p:nvPr/>
        </p:nvSpPr>
        <p:spPr>
          <a:xfrm>
            <a:off x="8869680" y="4617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0497312" y="1691640"/>
            <a:ext cx="1572768" cy="502920"/>
          </a:xfrm>
          <a:prstGeom prst="roundRect">
            <a:avLst>
              <a:gd name="adj" fmla="val 10909"/>
            </a:avLst>
          </a:prstGeom>
          <a:solidFill>
            <a:srgbClr val="0B3D62"/>
          </a:solidFill>
          <a:ln/>
        </p:spPr>
      </p:sp>
      <p:sp>
        <p:nvSpPr>
          <p:cNvPr id="46" name="Text 44"/>
          <p:cNvSpPr/>
          <p:nvPr/>
        </p:nvSpPr>
        <p:spPr>
          <a:xfrm>
            <a:off x="10543032" y="169164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Activator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0497312" y="2267712"/>
            <a:ext cx="1572768" cy="1463040"/>
          </a:xfrm>
          <a:prstGeom prst="roundRect">
            <a:avLst>
              <a:gd name="adj" fmla="val 3750"/>
            </a:avLst>
          </a:prstGeom>
          <a:solidFill>
            <a:srgbClr val="F4F8FA"/>
          </a:solidFill>
          <a:ln w="9525">
            <a:solidFill>
              <a:srgbClr val="D5E4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552176" y="2322576"/>
            <a:ext cx="1463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structured workloads persist to Delta Parquet format for open, unified storage.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|  Unified Analytics Platform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0B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of Microsoft Fabric — Power BI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lets you connect to data sources, visualize key insights, and share them effortlessly across the organization.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76" dirty="0"/>
          </a:p>
        </p:txBody>
      </p:sp>
      <p:sp>
        <p:nvSpPr>
          <p:cNvPr id="9" name="Text 7"/>
          <p:cNvSpPr/>
          <p:nvPr/>
        </p:nvSpPr>
        <p:spPr>
          <a:xfrm>
            <a:off x="1115568" y="2734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30632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tables, relationships, DAX measures, and calculation groups that power every downstream report.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76" dirty="0"/>
          </a:p>
        </p:txBody>
      </p:sp>
      <p:sp>
        <p:nvSpPr>
          <p:cNvPr id="13" name="Text 11"/>
          <p:cNvSpPr/>
          <p:nvPr/>
        </p:nvSpPr>
        <p:spPr>
          <a:xfrm>
            <a:off x="1115568" y="360273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39319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Fabric reports visualize data insights for stakeholders using a governed semantic model.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76" dirty="0"/>
          </a:p>
        </p:txBody>
      </p:sp>
      <p:sp>
        <p:nvSpPr>
          <p:cNvPr id="17" name="Text 15"/>
          <p:cNvSpPr/>
          <p:nvPr/>
        </p:nvSpPr>
        <p:spPr>
          <a:xfrm>
            <a:off x="1115568" y="447141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 Power BI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480060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enables automatic report creation by selecting a topic or prompting Copilot directly.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35240" y="27889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4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2926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TOOLS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0" y="32461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  •   Looker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635240" y="4663440"/>
            <a:ext cx="4069080" cy="1508760"/>
          </a:xfrm>
          <a:prstGeom prst="roundRect">
            <a:avLst>
              <a:gd name="adj" fmla="val 6061"/>
            </a:avLst>
          </a:prstGeom>
          <a:solidFill>
            <a:srgbClr val="082B47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0" y="4800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63840" y="512064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Power BI Developers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863840" y="544982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BI Analysts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863840" y="577900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Analysts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|  Unified Analytics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of Microsoft Fabric — Data Factory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 enhances data movement and transformation, importing data from external APIs or organizational systems into Fabric.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76" dirty="0"/>
          </a:p>
        </p:txBody>
      </p:sp>
      <p:sp>
        <p:nvSpPr>
          <p:cNvPr id="9" name="Text 7"/>
          <p:cNvSpPr/>
          <p:nvPr/>
        </p:nvSpPr>
        <p:spPr>
          <a:xfrm>
            <a:off x="1115568" y="2734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30632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300+ data sources spanning files, databases, Microsoft Fabric, Power Platform, Azure, and online services.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76" dirty="0"/>
          </a:p>
        </p:txBody>
      </p:sp>
      <p:sp>
        <p:nvSpPr>
          <p:cNvPr id="13" name="Text 11"/>
          <p:cNvSpPr/>
          <p:nvPr/>
        </p:nvSpPr>
        <p:spPr>
          <a:xfrm>
            <a:off x="1115568" y="360273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39319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data using a low-code Power Query interface; save results into the Lakehouse or Data Warehouse.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76" dirty="0"/>
          </a:p>
        </p:txBody>
      </p:sp>
      <p:sp>
        <p:nvSpPr>
          <p:cNvPr id="17" name="Text 15"/>
          <p:cNvSpPr/>
          <p:nvPr/>
        </p:nvSpPr>
        <p:spPr>
          <a:xfrm>
            <a:off x="1115568" y="447141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480060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data processing by triggering notebook runs or stored procedures in the warehouse on a schedule.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35240" y="27889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4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2926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TOOLS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0" y="32461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Factory   •   Talend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635240" y="4663440"/>
            <a:ext cx="4069080" cy="1508760"/>
          </a:xfrm>
          <a:prstGeom prst="roundRect">
            <a:avLst>
              <a:gd name="adj" fmla="val 6061"/>
            </a:avLst>
          </a:prstGeom>
          <a:solidFill>
            <a:srgbClr val="082B47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0" y="4800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63840" y="512064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Engineers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863840" y="544982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Analytics Engineers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863840" y="577900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Power BI Developers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|  Unified Analytics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3A7D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of Microsoft Fabric — Real-Time Analytics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offers tools to manage and analyze real-time event data, ingesting, analyzing, and visualizing streams as they arrive.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3A7D9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76" dirty="0"/>
          </a:p>
        </p:txBody>
      </p:sp>
      <p:sp>
        <p:nvSpPr>
          <p:cNvPr id="9" name="Text 7"/>
          <p:cNvSpPr/>
          <p:nvPr/>
        </p:nvSpPr>
        <p:spPr>
          <a:xfrm>
            <a:off x="1115568" y="2734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KQL Database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30632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Kusto Query Language engine; stores streaming datasets and powers Azure Data Explorer for logging and monitoring.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3A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76" dirty="0"/>
          </a:p>
        </p:txBody>
      </p:sp>
      <p:sp>
        <p:nvSpPr>
          <p:cNvPr id="13" name="Text 11"/>
          <p:cNvSpPr/>
          <p:nvPr/>
        </p:nvSpPr>
        <p:spPr>
          <a:xfrm>
            <a:off x="1115568" y="360273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39319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no-code tool that registers, processes, and routes streaming data to multiple destinations within Fabric.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3A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76" dirty="0"/>
          </a:p>
        </p:txBody>
      </p:sp>
      <p:sp>
        <p:nvSpPr>
          <p:cNvPr id="17" name="Text 15"/>
          <p:cNvSpPr/>
          <p:nvPr/>
        </p:nvSpPr>
        <p:spPr>
          <a:xfrm>
            <a:off x="1115568" y="447141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KQL Query Sets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480060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users to query data stored in a KQL database directly using the KQL language.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35240" y="27889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4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2926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TOOLS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0" y="32461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Explorer   •   Apache Kafka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635240" y="4663440"/>
            <a:ext cx="4069080" cy="1508760"/>
          </a:xfrm>
          <a:prstGeom prst="roundRect">
            <a:avLst>
              <a:gd name="adj" fmla="val 6061"/>
            </a:avLst>
          </a:prstGeom>
          <a:solidFill>
            <a:srgbClr val="082B47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0" y="4800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63840" y="512064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Engineers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863840" y="544982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IoT Engineers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863840" y="577900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Security Engineers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|  Unified Analytics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of Microsoft Fabric — Data Activator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Activator is a no-code tool that automates actions based on data patterns, enabling users to trigger notifications or run scripts.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76" dirty="0"/>
          </a:p>
        </p:txBody>
      </p:sp>
      <p:sp>
        <p:nvSpPr>
          <p:cNvPr id="9" name="Text 7"/>
          <p:cNvSpPr/>
          <p:nvPr/>
        </p:nvSpPr>
        <p:spPr>
          <a:xfrm>
            <a:off x="1115568" y="2734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Pattern-Based Alerts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30632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conditions on live data — such as a metric crossing a threshold — to trigger an alert automatically.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76" dirty="0"/>
          </a:p>
        </p:txBody>
      </p:sp>
      <p:sp>
        <p:nvSpPr>
          <p:cNvPr id="13" name="Text 11"/>
          <p:cNvSpPr/>
          <p:nvPr/>
        </p:nvSpPr>
        <p:spPr>
          <a:xfrm>
            <a:off x="1115568" y="360273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Actions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39319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notifications or run downstream scripts the moment a defined data pattern is detected.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76" dirty="0"/>
          </a:p>
        </p:txBody>
      </p:sp>
      <p:sp>
        <p:nvSpPr>
          <p:cNvPr id="17" name="Text 15"/>
          <p:cNvSpPr/>
          <p:nvPr/>
        </p:nvSpPr>
        <p:spPr>
          <a:xfrm>
            <a:off x="1115568" y="447141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with OneLake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480060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Azure tools with OneLake, enabling data-driven decisions on one user-friendly platform.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35240" y="27889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4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2926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TOOLS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0" y="32461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Logic Apps   •   Power Automate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635240" y="4663440"/>
            <a:ext cx="4069080" cy="1508760"/>
          </a:xfrm>
          <a:prstGeom prst="roundRect">
            <a:avLst>
              <a:gd name="adj" fmla="val 6061"/>
            </a:avLst>
          </a:prstGeom>
          <a:solidFill>
            <a:srgbClr val="082B47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0" y="4800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63840" y="512064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Business Analysts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863840" y="544982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Operations Teams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863840" y="577900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Engineers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|  Unified Analytics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0B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of Microsoft Fabric — Data Engineering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Engineering experience enables users to create and maintain systems for the collection, storage, processing, and analysis of large data sets.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76" dirty="0"/>
          </a:p>
        </p:txBody>
      </p:sp>
      <p:sp>
        <p:nvSpPr>
          <p:cNvPr id="9" name="Text 7"/>
          <p:cNvSpPr/>
          <p:nvPr/>
        </p:nvSpPr>
        <p:spPr>
          <a:xfrm>
            <a:off x="1115568" y="2734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30632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both unstructured data (files) and structured data (Lakehouse tables), enabling conversion via notebooks.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76" dirty="0"/>
          </a:p>
        </p:txBody>
      </p:sp>
      <p:sp>
        <p:nvSpPr>
          <p:cNvPr id="13" name="Text 11"/>
          <p:cNvSpPr/>
          <p:nvPr/>
        </p:nvSpPr>
        <p:spPr>
          <a:xfrm>
            <a:off x="1115568" y="360273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39319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run Python, R, and Scala scripts using Apache Spark, a leading big-data processing framework.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76" dirty="0"/>
          </a:p>
        </p:txBody>
      </p:sp>
      <p:sp>
        <p:nvSpPr>
          <p:cNvPr id="17" name="Text 15"/>
          <p:cNvSpPr/>
          <p:nvPr/>
        </p:nvSpPr>
        <p:spPr>
          <a:xfrm>
            <a:off x="1115568" y="447141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Job Definitions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480060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advanced users direct control over Spark job processing, typically written in Python or PySpark.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35240" y="27889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4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2926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TOOLS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0" y="32461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Lake   •   Databricks   •   Snowflake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635240" y="4663440"/>
            <a:ext cx="4069080" cy="1508760"/>
          </a:xfrm>
          <a:prstGeom prst="roundRect">
            <a:avLst>
              <a:gd name="adj" fmla="val 6061"/>
            </a:avLst>
          </a:prstGeom>
          <a:solidFill>
            <a:srgbClr val="082B47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0" y="4800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63840" y="512064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Engineers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863840" y="544982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Analytics Engineers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|  Unified Analytics 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of Microsoft Fabric — Data Science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Science experience offers tools for every stage — from data exploration and modeling to experimentation and delivering insights through Power BI.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76" dirty="0"/>
          </a:p>
        </p:txBody>
      </p:sp>
      <p:sp>
        <p:nvSpPr>
          <p:cNvPr id="9" name="Text 7"/>
          <p:cNvSpPr/>
          <p:nvPr/>
        </p:nvSpPr>
        <p:spPr>
          <a:xfrm>
            <a:off x="1115568" y="2734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30632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data scientists to investigate data, conduct experiments, and develop machine-learning models in Python or 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76" dirty="0"/>
          </a:p>
        </p:txBody>
      </p:sp>
      <p:sp>
        <p:nvSpPr>
          <p:cNvPr id="13" name="Text 11"/>
          <p:cNvSpPr/>
          <p:nvPr/>
        </p:nvSpPr>
        <p:spPr>
          <a:xfrm>
            <a:off x="1115568" y="360273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39319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data scientists track model iterations, parameters, code versions, and metrics using MLflow.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76" dirty="0"/>
          </a:p>
        </p:txBody>
      </p:sp>
      <p:sp>
        <p:nvSpPr>
          <p:cNvPr id="17" name="Text 15"/>
          <p:cNvSpPr/>
          <p:nvPr/>
        </p:nvSpPr>
        <p:spPr>
          <a:xfrm>
            <a:off x="1115568" y="447141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480060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for the registration and management of ML models throughout experimentation.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35240" y="27889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4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2926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TOOLS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0" y="32461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Machine Learning   •   Databricks Notebook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635240" y="4663440"/>
            <a:ext cx="4069080" cy="1508760"/>
          </a:xfrm>
          <a:prstGeom prst="roundRect">
            <a:avLst>
              <a:gd name="adj" fmla="val 6061"/>
            </a:avLst>
          </a:prstGeom>
          <a:solidFill>
            <a:srgbClr val="082B47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0" y="4800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63840" y="512064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Scientists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863840" y="544982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Engineers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|  Unified Analytics 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3A7D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of Microsoft Fabric — Data Warehouse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Warehouse offers a scalable T-SQL solution with tables, views, and stored procedures, plus visual scripting for citizen analysts.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3A7D9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76" dirty="0"/>
          </a:p>
        </p:txBody>
      </p:sp>
      <p:sp>
        <p:nvSpPr>
          <p:cNvPr id="9" name="Text 7"/>
          <p:cNvSpPr/>
          <p:nvPr/>
        </p:nvSpPr>
        <p:spPr>
          <a:xfrm>
            <a:off x="1115568" y="2734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 Engine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30632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building a transactional data warehouse with T-SQL — like SQL Server, comparable to Synapse SQL pools.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3A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76" dirty="0"/>
          </a:p>
        </p:txBody>
      </p:sp>
      <p:sp>
        <p:nvSpPr>
          <p:cNvPr id="13" name="Text 11"/>
          <p:cNvSpPr/>
          <p:nvPr/>
        </p:nvSpPr>
        <p:spPr>
          <a:xfrm>
            <a:off x="1115568" y="360273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Views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39319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relational schemas with familiar T-SQL constructs, fully governed within the Fabric workspace.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3A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76" dirty="0"/>
          </a:p>
        </p:txBody>
      </p:sp>
      <p:sp>
        <p:nvSpPr>
          <p:cNvPr id="17" name="Text 15"/>
          <p:cNvSpPr/>
          <p:nvPr/>
        </p:nvSpPr>
        <p:spPr>
          <a:xfrm>
            <a:off x="1115568" y="447141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Scripting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480060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analysts can build and query the warehouse without writing SQL by hand.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35240" y="27889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4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2926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TOOLS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0" y="32461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Synapse Analytics   •   Snowflake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635240" y="4663440"/>
            <a:ext cx="4069080" cy="1508760"/>
          </a:xfrm>
          <a:prstGeom prst="roundRect">
            <a:avLst>
              <a:gd name="adj" fmla="val 6061"/>
            </a:avLst>
          </a:prstGeom>
          <a:solidFill>
            <a:srgbClr val="082B47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0" y="4800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63840" y="512064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Database Administrators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863840" y="544982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Engineers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863840" y="577900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Analysts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|  Unified Analytics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Fabric: One Platform,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2377440"/>
            <a:ext cx="1517904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7744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40280" y="2377440"/>
            <a:ext cx="1517904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37744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Intelligence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86200" y="2377440"/>
            <a:ext cx="1517904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237744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32120" y="2377440"/>
            <a:ext cx="1517904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237744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78040" y="2377440"/>
            <a:ext cx="1517904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237744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Solutions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23960" y="2377440"/>
            <a:ext cx="1517904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0" y="237744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469880" y="2377440"/>
            <a:ext cx="1517904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0" y="237744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Solutions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3520440"/>
            <a:ext cx="10835640" cy="457200"/>
          </a:xfrm>
          <a:prstGeom prst="roundRect">
            <a:avLst>
              <a:gd name="adj" fmla="val 12000"/>
            </a:avLst>
          </a:prstGeom>
          <a:solidFill>
            <a:srgbClr val="0B3D6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520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Copilot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4087368"/>
            <a:ext cx="10835640" cy="457200"/>
          </a:xfrm>
          <a:prstGeom prst="roundRect">
            <a:avLst>
              <a:gd name="adj" fmla="val 12000"/>
            </a:avLst>
          </a:prstGeom>
          <a:solidFill>
            <a:srgbClr val="0B3D62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0873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4654296"/>
            <a:ext cx="10835640" cy="457200"/>
          </a:xfrm>
          <a:prstGeom prst="roundRect">
            <a:avLst>
              <a:gd name="adj" fmla="val 12000"/>
            </a:avLst>
          </a:prstGeom>
          <a:solidFill>
            <a:srgbClr val="0B3D62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6542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Purview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5806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E4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unifies ingestion, storage, engineering, science, real-time analytics, and BI on one governed foundation — OneLake — reducing tool sprawl and accelerating insight.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|  Unified Analytics 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9202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592928" y="1920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80" dirty="0"/>
          </a:p>
        </p:txBody>
      </p:sp>
      <p:sp>
        <p:nvSpPr>
          <p:cNvPr id="6" name="Text 4"/>
          <p:cNvSpPr/>
          <p:nvPr/>
        </p:nvSpPr>
        <p:spPr>
          <a:xfrm>
            <a:off x="0" y="32004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0" y="39776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more information, please visit our website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www.edureka.co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2026-07-27T09:33:33Z</dcterms:created>
  <dcterms:modified xsi:type="dcterms:W3CDTF">2026-07-27T09:33:33Z</dcterms:modified>
</cp:coreProperties>
</file>